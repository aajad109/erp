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Arial"/>
              </a:defRPr>
            </a:pPr>
            <a:r>
              <a:t>NEXT-GENERATION ACADEMIC OPERATING SYSTEM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Apex Institutional ERP</a:t>
            </a:r>
            <a:br/>
            <a:r>
              <a:t>&amp; Campus Hub</a:t>
            </a:r>
          </a:p>
          <a:p>
            <a:pPr>
              <a:defRPr sz="1800">
                <a:solidFill>
                  <a:srgbClr val="CBD5E1"/>
                </a:solidFill>
                <a:latin typeface="Arial"/>
              </a:defRPr>
            </a:pPr>
            <a:r>
              <a:t>An Enterprise Modular Monolith for Modern Higher Education with Concurrency Control &amp; Role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4632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React 18 + Node.js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Type-Safe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484632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PostgreSQL 16 + Prisma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ACID Relational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84632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Optimistic Concurrency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Zero-Collision Mark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4846320"/>
            <a:ext cx="24688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Render Cloud Deployed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87/87 Automated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INDUSTRY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Why Traditional College ERPs Fail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Critical pain points identified in engineering collegiate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  <a:latin typeface="Arial"/>
              </a:defRPr>
            </a:pPr>
            <a:r>
              <a:t>PROBLEM 01 • Concurrent Mark Overwrites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Multiple faculty members or teaching assistants grading assessments simultaneously overwrite marks silently without collision warnings (Lost Update Problem).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11D48"/>
                </a:solidFill>
                <a:latin typeface="Arial"/>
              </a:defRPr>
            </a:pPr>
            <a:r>
              <a:t>PROBLEM 02 • Unsegmented Exam Authority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Examination branches often lack strict departmental boundary isolation, creating security vulnerabilities and cross-branch grade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  <a:latin typeface="Arial"/>
              </a:defRPr>
            </a:pPr>
            <a:r>
              <a:t>PROBLEM 03 • Rigid Grievance Channels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Students have no differentiated workflow between quick informal internal marks corrections by instructors versus statutory end-term revaluations.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  <a:latin typeface="Arial"/>
              </a:defRPr>
            </a:pPr>
            <a:r>
              <a:t>PROBLEM 04 • Fragmented Campus Culture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Campus fests, hackathons, and lost-and-found belongings are scattered across disorganized WhatsApp and Telegram groups with zero institutional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UNIFIED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The Apex ERP &amp; Campus Hub Ecosystem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Engineered to deliver bulletproof data integrity, role clarity, and community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4 Specialized Portals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Student, Faculty, Academic Admin, and Exam Admin dashboards tailored to their exact institutional operational scope.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F46E5"/>
                </a:solidFill>
              </a:defRPr>
            </a:pPr>
            <a:r>
              <a:t>Optimistic Concurrency Control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Zero-lock versioned updates detect simultaneous edits and immediately alert instructors with HTTP 409 resolution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Two-Track Grievance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Direct faculty resolution for continuous internal assessments vs. statutory formal board revaluation for final external grades.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9333EA"/>
                </a:solidFill>
              </a:defRPr>
            </a:pPr>
            <a:r>
              <a:t>Statutory Department Isolation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Branch isolation guarantees Exam Admins can only view, edit, and gazette results for their specific appointed department.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690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Campus Hub Community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Verified lost-and-found items with proof-of-ownership claims, alongside an algorithmic trending campus events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06908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Audit Compliance &amp; History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Every sensitive action, grade alteration, and deactivation is indelibly recorded with timestamps and justification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ENGINEERING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Modern Monolith &amp; Technology Stack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End-to-end type safety, high cohesion, and low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Frontend Client (SPA)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React 18 &amp; Vite 5 for fast, modern rendering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Tailwind CSS for responsive design system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Recharts for interactive SGPA analytics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Lucide React for role-specific UI cues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Local storage session persistence with JWT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F46E5"/>
                </a:solidFill>
              </a:defRPr>
            </a:pPr>
            <a:r>
              <a:t>Backend Services (REST API)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Express.js in strict TypeScript configuration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Zod runtime validation schemas on all inputs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JWT Authentication &amp; RBAC middleware guards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Bcrypt secure credential hashing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Optimistic Concurrency Control (OCC)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Persistence &amp; Cloud Hosting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PostgreSQL 16 relational database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Prisma ORM with strict referential constraints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Single-process static frontend asset serving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Render Cloud Web Service (Singapore Region)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 Automated build and zero-downtime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Student Academic Portal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Real-time academic transparency, grade history, and dual grievance 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Academic Dashboard &amp; Analytics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Visual gauge of semester attendance, registered courses, credit count, and interactive SGPA progression chart.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Continuous Evaluation Ledger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Subject-by-subject internal score transparency (Mid-1, Mid-2, Quizzes, Lab totals /40) as soon as faculty enters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Two-Track Grievance Filing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Direct internal assessment grievances submitted to faculty; statutory external revaluation requests submitted to the Exam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Gazetted Grade Cards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Official semester grade sheets showing external marks, final letter grades (O, A+, A, B, etc.), passing credits, and revision history tags.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FACULTY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Faculty Instructional Center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Classroom operations, collision-free grading, and direct dispute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F46E5"/>
                </a:solidFill>
              </a:defRPr>
            </a:pPr>
            <a:r>
              <a:t>Global Offering Switcher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Header dropdown enables instructors to seamlessly toggle between multiple assigned courses and section offerings with instant context switching.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F46E5"/>
                </a:solidFill>
              </a:defRPr>
            </a:pPr>
            <a:r>
              <a:t>Session-Based Attendance Roster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Create lectures with topic coverage tags, toggle Present/Absent/Late status for enrolled students, and commit records with timestamp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F46E5"/>
                </a:solidFill>
              </a:defRPr>
            </a:pPr>
            <a:r>
              <a:t>Optimistic Concurrency Marks Entry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Input Midterms, Quizzes, and Assignments (/40). Simultaneous edits by co-instructors or TAs trigger non-destructive 409 conflict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F46E5"/>
                </a:solidFill>
              </a:defRPr>
            </a:pPr>
            <a:r>
              <a:t>Direct Grievance Approval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View student-submitted grievances regarding internal exams, examine justification, and update marks with direct approval without bureaucratic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INSTITUTIONAL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Academic Administrator Portal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Master catalog orchestration, section timetables, and account lifecycle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</a:defRPr>
            </a:pPr>
            <a:r>
              <a:t>Department &amp; Cohort Setup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Define engineering departments (CSE, Civil, Chemical, EEE), cohort academic years (e.g. 2024-2028), and section groups (A, B, C, 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</a:defRPr>
            </a:pPr>
            <a:r>
              <a:t>Curriculum &amp; Course Offerings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Create subjects with lecture/lab/credit weightages and assign faculty instructors to specific semester offerings.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</a:defRPr>
            </a:pPr>
            <a:r>
              <a:t>Dynamic Matrix Timetable Builder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Filter and structure weekly class schedules dynamically by Academic Year, Department, and Section with conflict-free slot assignments.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</a:defRPr>
            </a:pPr>
            <a:r>
              <a:t>User Account Lifecycle Management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Directory of all students and faculty with instant One-Click Deactivation and Reactivation, enforcing zero login access for inactive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STATUTORY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Examination Administrator Portal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Departmental branch isolation, official gazetting, revaluations, and correction audits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11D48"/>
                </a:solidFill>
              </a:defRPr>
            </a:pPr>
            <a:r>
              <a:t>Departmental Branch Isolation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Hard institutional boundary: CSE Exam Admins are cryptographically locked to CSE students; EEE Admins manage EEE, preventing cross-branch tampering.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11D48"/>
                </a:solidFill>
              </a:defRPr>
            </a:pPr>
            <a:r>
              <a:t>External Marks Entry &amp; Publishing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Enter final external exam scores (/60) and publish locked, tamper-resistant semester results accessible to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11D48"/>
                </a:solidFill>
              </a:defRPr>
            </a:pPr>
            <a:r>
              <a:t>Statutory Revaluation Board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Review formal student appeals, input re-evaluated marks, and automatically recompute total scores and final letter grades upon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E11D48"/>
                </a:solidFill>
              </a:defRPr>
            </a:pPr>
            <a:r>
              <a:t>Emergency Correction &amp; Audit Trail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Correct published marks with mandatory recorded justification logs; increments result version (v1 -&gt; v2) for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CAMPUS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Campus Hub: Events &amp; Lost &amp; Found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Institutional community life, algorithmic event ranking, and verifiable property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D97706"/>
                </a:solidFill>
              </a:defRPr>
            </a:pPr>
            <a:r>
              <a:t>Algorithmic Trending Events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Formula: Trending Score = (Upvotes * 2) + RSVPs. Features hackathons, cultural fests, and technical workshops ranked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2563EB"/>
                </a:solidFill>
              </a:defRPr>
            </a:pPr>
            <a:r>
              <a:t>Verifiable Lost &amp; Found Registry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Upload lost or found articles with location tags, contact info, and photos. Eliminates chaotic social media chat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Ownership Claim Pipeline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Claimants submit verifiable proof of ownership; original finders or administrators verify and mark items as resolved.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690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9333EA"/>
                </a:solidFill>
              </a:defRPr>
            </a:pPr>
            <a:r>
              <a:t>Sanitized Media Pipeline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Integrated Base64 asset storage handles event posters and item photos safely without external S3 bucket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TECHNICAL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Enterprise Reliability &amp; Security Innovations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Architectural mechanisms that protect data accuracy and regulatory compliance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32785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Innovation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Enterprise Advantage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Optimistic Concurrency Control (OCC)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Integer version column on marks and published results with atomic conditional SQL updates.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Completely eliminates the Lost Update Problem; returns HTTP 409 Conflict without database deadlocks.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Branch Isolation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Relational ExamAdminDesignation foreign key scoped strictly to DepartmentId.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Enforces organizational separation of powers; prevents unauthorized cross-department mark alterations.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Immutable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Dedicated AuditLog entity recording actor, entity, operation, diffs, and reason timestamps.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Provides airtight forensic compliance required for institutional accreditation (NAAC, NBA, ABET).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Single-Process Delivery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Express backend statically proxies built React production SPA bundle.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Zero CORS overhead in production, streamlined deployment, and minimal memory footprint on Render Cloud.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F46E5"/>
                </a:solidFill>
                <a:latin typeface="Arial"/>
              </a:defRPr>
            </a:pPr>
            <a:r>
              <a:t>VALIDATION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Comprehensive Prototype Verification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100% automated test verification across every operational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10B981"/>
                </a:solidFill>
              </a:defRPr>
            </a:pPr>
            <a:r>
              <a:t>87 / 87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API Endpoints Tested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Pass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2563EB"/>
                </a:solidFill>
              </a:defRPr>
            </a:pPr>
            <a:r>
              <a:t>0 Errors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TypeScript Compiler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Strict Type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4F46E5"/>
                </a:solidFill>
              </a:defRPr>
            </a:pPr>
            <a:r>
              <a:t>0 Warnings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Vite Production Build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Optimized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400">
                <a:solidFill>
                  <a:srgbClr val="9333EA"/>
                </a:solidFill>
              </a:defRPr>
            </a:pPr>
            <a:r>
              <a:t>Render Cloud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Singapore Datacenter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Live Production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Automated Test Suite Breakdown (backend/src/scripts/test-all-apis.ts)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✓ Student Module: Attendance retrieval, SGPA calculation, internal mark display, grievance creation.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✓ Faculty Module: Session attendance registration, topic coverage, OCC internal mark updates (HTTP 409 verified).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✓ Academic Admin Module: Course creation, cohort/section setup, timetable queries, user deactivation &amp; reactivation.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✓ Examination Admin Module: Branch isolation check (forbidden cross-department access), result publishing, revaluation.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✓ Campus Hub Module: Event creation, upvoting, RSVP tallying, lost &amp; found claims and approval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Summary &amp; Future Roadmap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Apex Institutional ERP is fully tested, cloud-deployable, and ready for institutional scaling.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0A5FA"/>
                </a:solidFill>
              </a:defRPr>
            </a:pPr>
            <a:r>
              <a:t>Phase 1: Fee &amp; Scholarship Gateway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Integration of digital payment gateways for online fee payment, automated receipt issuance, and exam hall ticket clearance upon zero dues.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0A5FA"/>
                </a:solidFill>
              </a:defRPr>
            </a:pPr>
            <a:r>
              <a:t>Phase 2: Mobile Progressive Web App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Service worker push notifications for real-time schedule adjustments, room change alerts, and urgent examination notices.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0A5FA"/>
                </a:solidFill>
              </a:defRPr>
            </a:pPr>
            <a:r>
              <a:t>Phase 3: AI Academic Analytics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Early-warning intelligence models identifying students falling behind attendance thresholds or showing dropping GPA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GitHub Repository: https://github.com/Aajad109/ERP  •  Deployed on Render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